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7105" autoAdjust="0"/>
  </p:normalViewPr>
  <p:slideViewPr>
    <p:cSldViewPr snapToGrid="0" snapToObjects="1">
      <p:cViewPr varScale="1">
        <p:scale>
          <a:sx n="140" d="100"/>
          <a:sy n="140" d="100"/>
        </p:scale>
        <p:origin x="948" y="12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1606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教授好，今天要跟您報告我的碩論研究規劃。題目暫定 TestRefiner，基於 ICSE 2026 的 TestWeaver 延伸，核心有兩個方向：Bidirectional Slicing 補 forward context，以及 Iterative Refinement 迭代回饋精煉。
整份簡報分兩段：Part I 先講高層次的 motivation 與 research questions，Part II 進入方法與實驗設計。全程約 20 分鐘，歡迎隨時打斷提問。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先把 TestRefiner 放進研究脈絡。CodaMOSA 2023 是把 search-based 與 LLM 結合的第一波；CoverUp 和 HITS 2024 引入 coverage feedback 和 method-level 切片；2025 的 LLMLOOP 驗證 feedback loop 的價值；2026 年 TestWeaver 是最直接的 baseline，Panta 則走 concolic hybrid 的平行路線。
TestRefiner 的定位：不是另起爐灶，而是在 TestWeaver 已經很強的執行感知基礎上，補兩塊明顯的缺口——下游 context 與失敗恢復。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TestWeaver 的論文標題其實就是它的 thesis statement：『Execution-aware, Feedback-driven Regression Testing Generation with Large Language Models』。三個形容詞對應三個主打技術貢獻。
第一是 Slicing-based Context — 透過 SDG backward slicing 把整個檔案壓縮成 target line 真正需要的上游語句，解決 context window 問題，context 只保留原始碼的 20-35%。
第二是 Execution-aware — 實際跑一遍被切出來的 code，把每行執行時的變數值以 inline comment 插回程式碼，LLM 讀到的不只是靜態程式碼，還有動態執行狀態。
第三是 Feedback-driven — closest test 提供範例、coverage feedback 告訴 LLM 還沒覆蓋哪些行。
這三個是 TestRefiner 要延伸的基礎；下一張要談的是這三個方向各自還有哪些空間。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這張投影片把三個缺口對齊到 TestWeaver 的三個主打方向上，這樣後面的兩個研究方向才能明確對應。
Gap 1（Slicing-based Context）— backward 告訴 LLM 怎麼抵達 target，但缺『抵達後下游怎麼用』。所以 LLM 寫 assertion 只能寫很弱的 assert result is not None。
Gap 2（Feedback-driven / regeneration）— 只跑一次就放棄，沒有失敗分類也沒有針對性回饋。PySnooper 實測 49.3% 生成測試直接被丟掉。
Gap 3（Feedback-driven / test picker）要解釋詳細一點：TestWeaver 在 Phase 3 需要挑一個『最接近 target 的既有測試』塞進 prompt 當範例。它挑選的方式非常粗糙——只看控制流距離（control-flow proximity），也就是兩個測試在 CFG 上相差幾個節點。它完全不看：(a) 這個候選測試實際執行時有沒有走過 target 的 backward slice（path overlap），(b) 這個候選有沒有跟前一輪失敗的候選太像（diversity）。結果就是 closest test 跟 random 相比只差 3% 而已——幾乎沒貢獻。而且在多輪迭代的情境下，它每次挑到的還是同一個候選，LLM 因此重複犯同樣的錯。這直接導致方向二的其中一個子模組：multi-signal test selection。
注意 Execution-aware 那塊我們沒有動——TestWeaver 的 execution in-lines 做得很好，保留並延用。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 RQ 改為問題導向 —— 每個 RQ 描述要解決什麼具體問題，而不是承諾 coverage 提升多少。
RQ1 對應方向一：assertion 品質問題。LLM 寫 assert result is not None 是標準失敗模式，我們要讓它寫得出真正驗證行為的斷言。
RQ2 對應方向二的失敗分類與分歧分析：失敗了要分類，不同類要給不同回饋，而不是通通丟掉。
RQ3 對應方向二的 multi-signal test picker：現在的 closest test 與 random 才差 3%，我們要讓它挑到真正有助於覆蓋 target 的候選。
我刻意不放「coverage +X%」作為 target — 因為實驗還沒跑，預設目標等於綁架自己。報告重點應該是『解決什麼問題』與『怎麼驗證這個問題被解決』。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 proposal 的核心摘要。用最白話的方式告訴教授：TestRefiner = TestWeaver + 兩件事。
方向一『看下游』：TestWeaver 只告訴 LLM『target 這行是怎麼被算出來的』（上游），但沒告訴 LLM『這行的值之後會被誰用、決定什麼行為』（下游）。我們反過來多做一次 forward 方向的追蹤，把下游也塞進 prompt。這樣 LLM 才寫得出有意義的 assertion。
方向二『給失敗第二次機會』：現在的 pipeline 是 LLM 生成失敗就直接丟掉。但失敗的原因很多種——可能只是 import 少一個、可能是走錯了一個 if 分支。這些明明是可以修的。我們做三件事：(1) 先分類失敗 (4 類)，(2) 每一類給不同的 prompt 回饋，(3) 最多試 3 輪，每輪換不同策略。
最後一句很重要：兩個方向技術上互相獨立。如果方向一效果好、方向二沒那麼好，論文還是可以拆開寫；ablation 也可以分別跑。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這張是全簡報最關鍵的一張——明確告訴教授：TestRefiner 對 TestWeaver 的三個主打方向，分別做了什麼動作。
Slicing-based Context：EXTEND — 一樣用原本的 SDG，只是多做一次 forward 方向的遍歷，湊成 bidirectional slice。代價極低，設計自然。
Execution-aware：KEEP — 完全保留 TestWeaver 的 execution in-lines，甚至把它延伸到我們新加的 forward slice 行。這塊不跟原作者競爭，反而放大它的優勢。
Feedback-driven：REPLACE — 這是動最大的地方。原本單輪、單一信號、失敗就丟，我們改成 3 輪迭代 + 4 類失敗分類 + 分歧分析 + 多信號 test picker。這部分技術新穎性最高。
口訣：延伸 slicing、保留 execution-aware、重構 feedback loop。這樣教授一聽就知道我們的 contribution 跟 TestWeaver 是互補而非重疊。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這張投影片用一個具體例子講清楚 backward-only 的問題。process_order 裡 target line 是 total = calculate_total，TestWeaver 的 backward slice 告訴 LLM 『輸入怎麼建構』，但不告訴 LLM 『total 會在下游怎麼被使用』。
結果 LLM 只寫 assert result is not None — 這個 assertion 過不了 mutation testing。反過來看，如果 prompt 裡有下游資訊，LLM 可以寫出 assert result == 'discounted' 這種真正驗證行為的斷言。
金句：Backward 告訴 LLM『怎麼抵達』，Forward 告訴 LLM『抵達後發生什麼』。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 slicing 本身是 1981 年 Weiser 就提出的演算法，但在 LLM test generation 這個脈絡下，新穎性在兩點：一是 executed mask 過濾掉未走到的分支，二是 depth 作為 tunable 超參數。
實作上重用 TestWeaver 既有的 SDG（ExecutionOrderAnalyzer），所以成本很低。深度 5 是 pilot 結論，Table B 會完整掃描 0/3/5/7/10 看邊際效益。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analyze_data 的例子具體對比三種切片的資訊量差異。Backward-only 給 LLM (1)(2)，知道 score 怎麼算出來但不知怎麼用；Forward-only 反過來；Bidirectional 把完整的輸入→計算→輸出判斷鏈都給 LLM。
可能的問題：你不怕 prompt 變長嗎？答：預期 token 會增加，但關鍵在於 LLM 的判斷品質提升——讓它寫得出真正有意義的 assertion，而不是拿『assert result is not None』交差。token cost 會在 efficiency 分析中量化。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我們的 prompt 不是把一堆資訊雜亂塞進去，而是按「①上游→②目標→③執行值→④下游→⑤指引」五段組織。這個結構對齊 LLM 的因果推理，不只是 Chain-of-Thought，而是把程式執行的因果邏輯顯式暴露給模型。
新穎性論述：首次系統化地在同一 prompt 裡解決 Input Generation（靠 upstream + runtime values）與 Oracle Derivation（靠 downstream）這兩個分別屬於不同子問題的挑戰。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PySnooper Phase 3 的實測數據：49.3% 的生成測試被過濾掉。但仔細看這 49.3%，大部分是『可修的失敗』——編譯錯誤差一個 import，執行錯誤差一個值，路徑分歧差一個 branch。TestWeaver 全部直接丟掉。
方向二就是要救回這些失敗。右側三個子模組 A/B/C 會在後面分張細講。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三輪每輪策略不同，避免純粹重試。Round 1 標準生成；Round 2 加入上一輪診斷 + 換候選 (diversity)；Round 3 顯式告訴 LLM『你之前這樣錯了，不要再錯』+ 隨機性探索。
下方表格是『設計考量』而不是預設結果。我們選 3 輪是因為：1 輪太少救不回來；2 輪能救多數簡單失敗；3 輪多加一層 negative-example 策略；5 輪以上 token 成本不划算。實驗會驗證這個選擇是否正確，但不預設 coverage 提升多少。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失敗分類不是創舉，但把它系統化地接到 LLM prompt 是這裡的貢獻。決策樹很簡單——先看編譯、再看執行、再看覆蓋。重點在類型 ③ 路徑分歧，這個 class 對應下一張的 divergence analysis 模組。
每類失敗有自己的 prompt 模板（右側縮圖），這比 TestWeaver 統一用一個 feedback_line.txt 更精準。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Divergence analysis 是方向二最具技術深度的部分。核心洞察：當測試執行失敗時，用 execution trace 找出第一個走偏的分支，把精確的診斷（第幾行走錯、變數值是多少、該怎麼調整）變成自然語言餵回 LLM。
可能問題：這跟 concolic testing 差在哪？答：concolic 需要 SMT solver 生成新輸入；我們是讓 LLM 讀自然語言診斷後自己推理。優點是處理 Python 這種動態語言 SMT 難搞的情境；缺點是精確性不如 solver。所以是互補而不是取代。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TestWeaver 的 closest test 只用 control-flow proximity 單一信號，所以跟 random 才差 3%。我們加兩個信號：path overlap 代表『這個候選 test 已經走過了類似的 setup』，diversity 代表『與之前輪失敗的候選不同』。
權重 0.4/0.4/0.2 是經驗值，Pilot 會掃描調整。三信號組合起來，期待在 3-round iteration 中提供更有區別度的候選。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實驗設計總覽。Benchmark 是 CodaMosa 27 projects（跟 TestWeaver 同一套，保證公平）；baseline 三個：TestWeaver、CoverUp、CodaMOSA；metrics 主打 coverage，但也會報 token / runtime / API calls 這些效率指標。
下方 ablation 矩陣：5 個配置，完整的 C1 對標 C5 (RQ1)、C1 對 C2 驗證 forward (RQ2)、C1 對 C3 驗證迭代 (RQ3)、C4 是 failure classify 的消融。這種設計讓每個設計決策都可以單獨驗證。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三張關鍵表格的預期趨勢。Table A 對應 RQ1（整體），Table B 對應 RQ2（深度敏感度），Table C 對應 RQ3（iteration rounds）。每張表我都標記了預期的「最佳行」和對應 RQ 的預期結論。
底部統計分析用 Wilcoxon signed-rank 做 paired 檢定，配合 Vargha-Delaney 報告 effect size。每個 config 跑 3 次取平均，處理 LLM 固有的隨機性。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週時程。前 3 週環境搭建和復現 TestWeaver；4-10 週方向一、二的實作；11-12 週 Pilot；13-18 週全 27 projects 完整實驗 + 消融 + 統計；剩餘時間寫論文和準備 PPT。
Pilot 挑三個代表性 projects：PySnooper（debug/trace 典型）、flutils（簡單 utilities 快速驗證）、typesystem（高複雜度 CC&gt;350，壓力測試）。5 個配置跑一遍，預估 API 成本 $13-20。
關鍵里程碑：W12 Pilot 結束是決策點——如果 pipeline 不可行就要調整方案；W16 全實驗完成；W18 圖表定稿；W21 論文初稿。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貢獻總結。三點科學：bidirectional slicing 的系統性整合、divergence analysis 引入 LLM test gen、failure-class prompt 的比較。兩點實務：工具開源、實驗 protocol 可複製。
金句：不是單純技術搬用，而是首次系統性整合程式分析與 LLM 反饋的最小化設計。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謝謝教授，歡迎提問。
可能的討論方向（預演答題）：
1. 與 HITS / Panta 差在哪？HITS 是方法體粒度（粗），Panta 是 Java 路徑級（不同語言）；我們是 Python 行級 + bidirectional，互補不衝突。
2. Forward depth 敏感度：Table B 會掃 0/3/5/7/10，並做 project 複雜度分層分析。
3. Rounds 邊際遞減：Table C 掃 1/2/3/5，預期 3 是 sweet spot。
4. Efficiency 定義：token per 1% coverage gain，report 在 Table 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TestRefiner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LLM-Based Test Generation via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Slicing and Iterative Refinement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548640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663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研究生</a:t>
            </a:r>
            <a:r>
              <a:rPr lang="en-US" sz="14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r>
              <a:rPr lang="zh-TW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張瑞麟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（gary1033）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983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指導教授</a:t>
            </a:r>
            <a:r>
              <a:rPr lang="en-US" sz="14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r>
              <a:rPr lang="zh-TW" alt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王凡</a:t>
            </a: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· Research Proposal Meeting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Landscape of LLM-Based Test Generation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在研究脈絡中的定位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1005840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834640"/>
            <a:ext cx="182880" cy="18288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CodaMOSA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Search-based + LLM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2834640"/>
            <a:ext cx="182880" cy="18288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CoverUp · HITS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feedback · Method-level slicing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182880" cy="18288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LLMLOOP · exLong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95360" y="2834640"/>
            <a:ext cx="182880" cy="18288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TestWeaver · Panta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Execution-aware · Concolic hybrid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698480" y="2834640"/>
            <a:ext cx="182880" cy="182880"/>
          </a:xfrm>
          <a:prstGeom prst="ellipse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TestRefiner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9264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Work)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positioning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5074920"/>
            <a:ext cx="103601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5166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TestWeaver</a:t>
            </a: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已建立 execution-aware + SDG-based slicing 的主線；</a:t>
            </a:r>
            <a:r>
              <a:rPr lang="en-US" sz="13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</a:t>
            </a: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進一步補 forward slicing（assertion 品質）與 iterative refinement（failure recovery），在同一 benchmark 上</a:t>
            </a: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量化每一塊的邊際貢獻</a:t>
            </a: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TestWeaver's Three Main Contributions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論文標題即 thesis statement：Execution-aware, Feedback-driven, Slicing-based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47472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645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71600"/>
            <a:ext cx="3474720" cy="8229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17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25880" y="1417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Slicing-based Context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828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基於切片的聚焦式 context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 slicing via SDG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880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108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target line 反向追所有影響它的上游語句，把 context 從整個檔案壓縮到 20–35%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Phase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371600"/>
            <a:ext cx="347472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645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371600"/>
            <a:ext cx="3474720" cy="8229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417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◈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257800" y="1417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Execution-aware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828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執行感知的程式推理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286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in-line comments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880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108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實際跑一遍 sliced code，把每行執行時的變數值插回該行的 inline comment，LLM 讀到動態執行狀態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434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核心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1371600"/>
            <a:ext cx="347472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645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1371600"/>
            <a:ext cx="3474720" cy="8229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41080" y="1417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◉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9189720" y="1417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Feedback-driven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89720" y="1828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回饋驅動的重生成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0" y="2286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closest test + coverage fb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0" y="2880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86800" y="3108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挑『control-flow 最接近 target』的既有測試當範例，配合 coverage 結果告知 LLM 還有哪些行沒覆蓋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0" y="4434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0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核心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　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 cov　·　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branch cov　·　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projects /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486</a:t>
            </a: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modules (CodaMosa)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Contribution Still Has Room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把三個缺口對齊回 TestWeaver 三個主打方向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6858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459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14447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Anchors to　Slicing-based Context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70078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Unidirectional Only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0299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 backward — LLM 知道怎麼抵達 target，但不知道抵達後下游怎麼用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48716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assertion 多半是 assert result is not None 這類弱斷言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6858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918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◉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463040" y="30906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Anchors to　Feedback-driven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334670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One-Shot, No Triage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67588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只跑一次、失敗即放棄；沒有失敗分類、沒有針對性回饋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413308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→『可修的失敗』(syntax / branch divergence) 全部被丟掉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6858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9377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◉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463040" y="47365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Anchors to　Feedback-driven (test picker)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49926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Single-Signal Test Selection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532180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 closest test 時只看「控制流距離」一個信號；完全不考慮候選測試的執行路徑是否有用、也不考慮多輪迭代時應該換不同的樣本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577900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與 random 相差僅 3% (TestWeaver Table 7)；迭代中重複同樣失敗模式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1371600"/>
            <a:ext cx="3840480" cy="14630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1508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20-35%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95528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 slicing 保留的 context 比例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55280" y="25603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缺下游 forward 部分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0" y="3017520"/>
            <a:ext cx="3840480" cy="14630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1546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49.3%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7955280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生成測試被過濾掉的比例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PySnooper phase 3 JSON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0" y="4663440"/>
            <a:ext cx="3840480" cy="14630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800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7955280" y="5532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test 相對 random 的邊際改善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55280" y="5852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TestWeaver Table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 RQ，各自要解決一個具體問題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280160" cy="1508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1280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011680" y="1371600"/>
            <a:ext cx="9601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50876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生成的 assertion 能不能從「弱斷言」升級到「有意義的斷言」？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210312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Solves　</a:t>
            </a:r>
            <a:r>
              <a:rPr lang="en-US" sz="1200" dirty="0">
                <a:solidFill>
                  <a:srgbClr val="36454F"/>
                </a:solidFill>
              </a:rPr>
              <a:t>解決：assert result is not None 這類弱斷言無法抓 bug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46888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　</a:t>
            </a:r>
            <a:r>
              <a:rPr lang="en-US" sz="1200" i="1" dirty="0">
                <a:solidFill>
                  <a:srgbClr val="C9A646"/>
                </a:solidFill>
              </a:rPr>
              <a:t>方向一：Bidirectional Slicing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1280160" cy="1508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1280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011680" y="3017520"/>
            <a:ext cx="9601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315468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 LLM 生成的測試失敗時，能不能區分不同類型的失敗並給出針對性回饋？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94560" y="37490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Solves　</a:t>
            </a:r>
            <a:r>
              <a:rPr lang="en-US" sz="1200" dirty="0">
                <a:solidFill>
                  <a:srgbClr val="36454F"/>
                </a:solidFill>
              </a:rPr>
              <a:t>解決：失敗就被丟掉，不分類；『可修的失敗』被浪費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411480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　</a:t>
            </a:r>
            <a:r>
              <a:rPr lang="en-US" sz="1200" i="1" dirty="0">
                <a:solidFill>
                  <a:srgbClr val="C9A646"/>
                </a:solidFill>
              </a:rPr>
              <a:t>方向二：Failure Classification + Divergence 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1280160" cy="1508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63440"/>
            <a:ext cx="1280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2011680" y="4663440"/>
            <a:ext cx="9601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480060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 LLM 需要挑既有測試當範例時，能不能挑到真正相關且有多樣性的候選？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194560" y="539496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Solves　</a:t>
            </a:r>
            <a:r>
              <a:rPr lang="en-US" sz="1200" dirty="0">
                <a:solidFill>
                  <a:srgbClr val="36454F"/>
                </a:solidFill>
              </a:rPr>
              <a:t>解決：closest test 只靠 control-flow proximity，與 random 僅差 3%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576072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　</a:t>
            </a:r>
            <a:r>
              <a:rPr lang="en-US" sz="1200" i="1" dirty="0">
                <a:solidFill>
                  <a:srgbClr val="C9A646"/>
                </a:solidFill>
              </a:rPr>
              <a:t>方向二：Multi-Signal Test Selection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TestRefiner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用一句話說明：TestRefiner 在 TestWeaver 上加了什麼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10972800" cy="64008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TestRefiner = TestWeaver + </a:t>
            </a:r>
            <a:r>
              <a:rPr lang="en-US" sz="1600" b="1" dirty="0">
                <a:solidFill>
                  <a:srgbClr val="C9A646"/>
                </a:solidFill>
              </a:rPr>
              <a:t>「看下游」</a:t>
            </a:r>
            <a:r>
              <a:rPr lang="en-US" sz="1600" b="1" dirty="0">
                <a:solidFill>
                  <a:srgbClr val="FFFFFF"/>
                </a:solidFill>
              </a:rPr>
              <a:t> + </a:t>
            </a:r>
            <a:r>
              <a:rPr lang="en-US" sz="1600" b="1" dirty="0">
                <a:solidFill>
                  <a:srgbClr val="C9A646"/>
                </a:solidFill>
              </a:rPr>
              <a:t>「給失敗第二次機會」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5394960" cy="3886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645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94560"/>
            <a:ext cx="5394960" cy="64008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方向一：讓 LLM「看下游」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Bidirectional Slicing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❓ 問題是什麼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TestWeaver 只給 LLM 看 target 的「上游」（怎麼算出來的），不給看「下游」（算出來後被怎麼用）。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怎麼做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251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反過來多追一次：從 target 往後找「後面會用到它的行」，一起塞進 prompt。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解決了什麼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寫得出有意義的 assertion，而不是只會寫 assert result is not None。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194560"/>
            <a:ext cx="5394960" cy="3886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645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194560"/>
            <a:ext cx="5394960" cy="64008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方向二：給失敗第二次機會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Iterative Refinement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❓ 問題是什麼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200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TestWeaver 遇到 LLM 生成失敗就直接丟掉，也不分原因——明明 syntax 錯、走錯分支、跑出例外 是完全不同的事。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怎麼做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4251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先分類失敗（4 類），再給對應回饋；最多試 3 輪，每輪換策略；挑範例時用 3 個信號而非 1 個。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🎯 解決了什麼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5257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「可修的失敗」（syntax、走錯分支）不會被直接丟掉，LLM 有第二、第三次機會修正。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兩個方向技術上互相獨立，可以分開實驗驗證（各自的 ablation）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TestWeaver vs TestRefiner — What's Different?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三個方向逐一對照：保留什麼 · 延伸什麼 · 新增什麼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237744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TestWeaver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1325880"/>
            <a:ext cx="246888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1325880"/>
            <a:ext cx="274320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TestRefiner's Move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325880"/>
            <a:ext cx="3383280" cy="4572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325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Novelty / 特別處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1783080"/>
            <a:ext cx="2377440" cy="13258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7724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Slicing-based Context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 slicing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1783080"/>
            <a:ext cx="2468880" cy="132588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8745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SDG 反向 DFS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只保留上游語句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(context 20-35%)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1783080"/>
            <a:ext cx="2743200" cy="132588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1874520"/>
            <a:ext cx="868680" cy="292608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8745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2402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 forward slicing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(同一個 SDG，方向反過來)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形成 Bidirectional Slice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1783080"/>
            <a:ext cx="3383280" cy="132588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18745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首次將 bidirectional slicing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系統性整合進 LLM test prompt；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同時解決 Input Generation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Oracle Derivation 兩個子問題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108960"/>
            <a:ext cx="2377440" cy="13258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◈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724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Execution-aware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 variable values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17520" y="3108960"/>
            <a:ext cx="24688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3200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execute_and_trace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在每行插入變數值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給 LLM 讀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0" y="3108960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77840" y="3200400"/>
            <a:ext cx="868680" cy="292608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32004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77840" y="35661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完整保留 execution in-lines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延伸到 forward slice 的行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+ existing 都有變數值)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0" y="3108960"/>
            <a:ext cx="3383280" cy="1325880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32004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不與 TestWeaver 競爭這塊；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反而把它的優勢擴展到更大的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範圍，讓 forward slice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的每一行也帶執行狀態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434840"/>
            <a:ext cx="2377440" cy="13258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526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◉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777240" y="4983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Feedback-driven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544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closest test + one-shot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17520" y="4434840"/>
            <a:ext cx="2468880" cy="132588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54680" y="4526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單輪：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control-flow proximity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coverage feedback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失敗 → 放棄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0" y="4434840"/>
            <a:ext cx="2743200" cy="132588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77840" y="4526280"/>
            <a:ext cx="868680" cy="292608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45262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77840" y="4892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升級為 3 輪迭代 loop：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Round-wise 策略切換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類失敗分類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Divergence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多信號 test picker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0" y="4434840"/>
            <a:ext cx="3383280" cy="132588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66760" y="45262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首次把 concolic testing 的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『分歧點』概念翻成 LLM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可讀的自然語言診斷；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失敗分類 + 針對性回饋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比統一 feedback 更精準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" y="5897880"/>
            <a:ext cx="10972800" cy="50292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" y="5897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　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不搶 TestWeaver 的功勞；我們明確 </a:t>
            </a:r>
            <a:r>
              <a:rPr lang="en-US" sz="1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 slicing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sz="1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 execution-aware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sz="1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重構 feedback loop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——每一塊都可獨立消融驗證。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1 · Why Backward-Only Fails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不知道 target line 的下游會被如何使用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760720" cy="45720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process_order(order):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validated = validate(order)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包含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validated: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= calculate_total(order)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423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TARGET 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total &gt; 1000: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影響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063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apply_discount(order, 0.1)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063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影響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"discounted"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影響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703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total &gt; 500: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0233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apply_discount(order, 0.05)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343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"small_discount"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663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"normal"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4663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影響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983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"invalid"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1371600"/>
            <a:ext cx="5029200" cy="2011680"/>
          </a:xfrm>
          <a:prstGeom prst="rect">
            <a:avLst/>
          </a:prstGeom>
          <a:solidFill>
            <a:srgbClr val="E4E4E4"/>
          </a:solidFill>
          <a:ln w="12700">
            <a:solidFill>
              <a:srgbClr val="7A88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463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 backward-only context: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17830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test_process():
    result = process_order(valid_order)
</a:t>
            </a: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result is not None</a:t>
            </a:r>
            <a:r>
              <a:rPr lang="en-US" sz="12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</a:t>
            </a:r>
            <a:r>
              <a:rPr lang="en-US" sz="1100" b="1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assertion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3566160"/>
            <a:ext cx="5029200" cy="23774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657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bidirectional slice: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393192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知道 total &gt; 1000 會 return 'discounted'
→ 知道不同 branch 對應不同 return
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3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result == 'discounted'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1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有意義的 assertion，驗證真實行為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Slicing Algorithm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SDG 上做深度受限的前向遍歷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6675120" cy="45720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· forward_slicing()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: target_line, SDG, max_depth, executed_mask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756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forward_slice ⊆ executed_mask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3225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56946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  ← [(target_line, 0)]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8163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 ← { target_line 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063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3101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queue ≠ ∅: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55701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(node, depth) ← queue.pop()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8039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depth ≥ max_depth: continue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0507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succ in SDG.forward_edges(node):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297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succ ∈ executed_mask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5445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and succ ∉ visited: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79145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visited.add(succ)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503834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queue.append((succ, depth + 1))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52852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55321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visited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parameter sensitivity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0" y="1737360"/>
            <a:ext cx="4114800" cy="365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for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98080" y="2103120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2103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直接下游 (1-2 層)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0" y="2103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小模型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0" y="2514600"/>
            <a:ext cx="4114800" cy="411480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2514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主要分支邏輯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241280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預設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0" y="2926080"/>
            <a:ext cx="4114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2926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124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含間接影響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24128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98080" y="3337560"/>
            <a:ext cx="41148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3337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41248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近完整 forward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24128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實驗上界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98080" y="393192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choices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680960" y="434340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mask 過濾未被測試走到的分支（避免 noise）
</a:t>
            </a: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是超參數，由 Table B 實驗掃描
</a:t>
            </a: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backward slice 聯集即為 bidirectional slice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Context — Before vs After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 analyze_data 範例下三種切片策略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72800" cy="18288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17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analyze_data(raw_data):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cleaned   = clean(raw_data)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901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190195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filtered  = filter_valid(cleaned)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1122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112264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    = compute_score(filtered)   ← TARGET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32257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 THRESHOLD: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532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53288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category = "high"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7432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274320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notify_admin(score)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9535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295351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category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Backward only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38862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included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(1), (2)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526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learns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709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輸入怎麼構造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120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Remark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303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 score 的下游用途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3383280"/>
            <a:ext cx="3566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only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38862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included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(4), (5), (6), (7)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0" y="4526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learns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4709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下游如何用 score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0" y="5120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Remark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0" y="5303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 score 怎麼產生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38160" y="3383280"/>
            <a:ext cx="3566160" cy="2834640"/>
          </a:xfrm>
          <a:prstGeom prst="rect">
            <a:avLst/>
          </a:prstGeom>
          <a:solidFill>
            <a:srgbClr val="36454F"/>
          </a:solidFill>
          <a:ln w="25400">
            <a:solidFill>
              <a:srgbClr val="C9A6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(Ours)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21040" y="38862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included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2104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(1)–(7)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321040" y="4526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learns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21040" y="4709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完整因果鏈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21040" y="5120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Remark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21040" y="5303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 → 計算 → 輸出判斷 全覆蓋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Narrative Prompt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五段式 prompt 對齊 LLM 的因果推理習慣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0972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Upstream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如何抵達目標行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1554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 = clean(raw_data)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 = filter_valid(cleaned)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10972800" cy="64008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Target 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要覆蓋的程式碼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compute_score(filtered)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10972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Runtime Values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當前變數值（來自 execution in-lines）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154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 = [1, 2, 3]    filtered = [1, 3]    score = 85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10972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Downstream Impact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執行後會發生什麼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023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 THRESHOLD: category = "high"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category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972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Instruction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任務指引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4983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 test that covers the target line AND makes meaningful assertions over downstream behavior.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將 backward slice / target / execution values / forward slice 組合成自然的因果敘事，首次系統化地統一 Input Generation + Oracle Derivation。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2 · Phase 3 is Wasteful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單次生成 + 簡單 test selection 造成大量『可修失敗』被丟棄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PySnooper · Phase 3 breakdown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2503444" cy="5486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11680"/>
            <a:ext cx="2503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26404" y="2011680"/>
            <a:ext cx="2434316" cy="54864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6404" y="2011680"/>
            <a:ext cx="243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49.3% 被丟棄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但這 49.3% 裡…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108960"/>
            <a:ext cx="493776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編譯錯誤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3108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只差一個 import / typo，可修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611880"/>
            <a:ext cx="4937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11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執行錯誤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611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type 明確，可修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114800"/>
            <a:ext cx="493776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114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路徑分歧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4114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走錯 branch，可修（新！）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4617720"/>
            <a:ext cx="4937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617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部分覆蓋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4617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83464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差幾行到目標，可修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1371600"/>
            <a:ext cx="5303520" cy="13716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1600200"/>
            <a:ext cx="914400" cy="914400"/>
          </a:xfrm>
          <a:prstGeom prst="ellipse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758952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Refinement Loop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89520" y="2057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rounds · round-wise 策略切換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2926080"/>
            <a:ext cx="5303520" cy="13716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3154680"/>
            <a:ext cx="914400" cy="914400"/>
          </a:xfrm>
          <a:prstGeom prst="ellipse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154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7589520" y="3200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Classification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589520" y="3611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類失敗決策樹 · 對應 prompt 模板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4480560"/>
            <a:ext cx="5303520" cy="137160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0" y="4709160"/>
            <a:ext cx="914400" cy="914400"/>
          </a:xfrm>
          <a:prstGeom prst="ellipse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4709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7589520" y="4754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Divergence Analysis + Test Selection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589520" y="5166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找走偏的分支 · proximity + overlap + diversity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Iterative Refinement Loop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三輪 round-wise 策略切換，邊際效益遞減點作為停止條件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56616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3645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3566160" cy="5486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Generation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560320"/>
            <a:ext cx="32004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06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slice + top-1 closest test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 → 分類 → 進 Round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251960" y="2880360"/>
            <a:ext cx="320040" cy="274320"/>
          </a:xfrm>
          <a:prstGeom prst="line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463040"/>
            <a:ext cx="356616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3645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463040"/>
            <a:ext cx="3566160" cy="5486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Retry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26280" y="2560320"/>
            <a:ext cx="32004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606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 Round 1 診斷 + 切換高 diversity 候選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仍失敗 → 加入 Round 2 診斷 → 進 Round 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5400000">
            <a:off x="7955280" y="2880360"/>
            <a:ext cx="320040" cy="274320"/>
          </a:xfrm>
          <a:prstGeom prst="line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1463040"/>
            <a:ext cx="356616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3645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1463040"/>
            <a:ext cx="3566160" cy="5486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Negative-Example Strategy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0" y="2560320"/>
            <a:ext cx="320040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2606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明示前輪失敗 + 要求 LLM 避開 + 隨機 top-k 候選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3657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仍失敗 → 記錄後放棄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max_rounds = 3?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463040" cy="27432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074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103120" y="5074920"/>
            <a:ext cx="5029200" cy="27432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4884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設計考量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32320" y="5074920"/>
            <a:ext cx="4754880" cy="27432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5074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備註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5349240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349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103120" y="5349240"/>
            <a:ext cx="5029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48840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只用第一次嘗試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32320" y="5349240"/>
            <a:ext cx="4754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5349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 TestWeaver 做法，失敗即放棄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5623560"/>
            <a:ext cx="146304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5623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103120" y="5623560"/>
            <a:ext cx="502920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48840" y="5623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加一次重試、換候選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132320" y="5623560"/>
            <a:ext cx="47548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78040" y="5623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能解決『只差一個細節』的失敗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0080" y="5897880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" y="5897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(chosen)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103120" y="5897880"/>
            <a:ext cx="50292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48840" y="5897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三輪覆蓋不同策略 + negative example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132320" y="5897880"/>
            <a:ext cx="47548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78040" y="5897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覆蓋大多數可修失敗，token 仍可接受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0080" y="6172200"/>
            <a:ext cx="146304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" y="6172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103120" y="6172200"/>
            <a:ext cx="502920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48840" y="6172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更多輪重試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132320" y="6172200"/>
            <a:ext cx="47548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78040" y="6172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邊際遞減 — 實驗會驗證，先不預設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Failure Classification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類失敗決策樹 · 對應差異化 prompt 模板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178308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執行測試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25146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編譯錯誤?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286000"/>
            <a:ext cx="0" cy="228600"/>
          </a:xfrm>
          <a:prstGeom prst="line">
            <a:avLst/>
          </a:prstGeom>
          <a:noFill/>
          <a:ln w="12700">
            <a:solidFill>
              <a:srgbClr val="7A88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5146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編譯錯誤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770632"/>
            <a:ext cx="274320" cy="0"/>
          </a:xfrm>
          <a:prstGeom prst="line">
            <a:avLst/>
          </a:prstGeom>
          <a:noFill/>
          <a:ln w="12700">
            <a:solidFill>
              <a:srgbClr val="7A88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5603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94560" y="32461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Exception?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017520"/>
            <a:ext cx="0" cy="228600"/>
          </a:xfrm>
          <a:prstGeom prst="line">
            <a:avLst/>
          </a:prstGeom>
          <a:noFill/>
          <a:ln w="12700">
            <a:solidFill>
              <a:srgbClr val="7A889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2461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執行錯誤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502152"/>
            <a:ext cx="274320" cy="0"/>
          </a:xfrm>
          <a:prstGeom prst="line">
            <a:avLst/>
          </a:prstGeom>
          <a:noFill/>
          <a:ln w="12700">
            <a:solidFill>
              <a:srgbClr val="7A88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2918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39776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目標行覆蓋?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3749040"/>
            <a:ext cx="0" cy="228600"/>
          </a:xfrm>
          <a:prstGeom prst="line">
            <a:avLst/>
          </a:prstGeom>
          <a:noFill/>
          <a:ln w="12700">
            <a:solidFill>
              <a:srgbClr val="7A889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9776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成功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4233672"/>
            <a:ext cx="274320" cy="0"/>
          </a:xfrm>
          <a:prstGeom prst="line">
            <a:avLst/>
          </a:prstGeom>
          <a:noFill/>
          <a:ln w="12700">
            <a:solidFill>
              <a:srgbClr val="7A889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40233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94560" y="47091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附近行覆蓋?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83280" y="4480560"/>
            <a:ext cx="0" cy="228600"/>
          </a:xfrm>
          <a:prstGeom prst="line">
            <a:avLst/>
          </a:prstGeom>
          <a:noFill/>
          <a:ln w="12700">
            <a:solidFill>
              <a:srgbClr val="7A889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47091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709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部分覆蓋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4965192"/>
            <a:ext cx="274320" cy="0"/>
          </a:xfrm>
          <a:prstGeom prst="line">
            <a:avLst/>
          </a:prstGeom>
          <a:noFill/>
          <a:ln w="12700">
            <a:solidFill>
              <a:srgbClr val="7A889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47548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47091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709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路徑分歧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011680" y="4965192"/>
            <a:ext cx="182880" cy="0"/>
          </a:xfrm>
          <a:prstGeom prst="line">
            <a:avLst/>
          </a:prstGeom>
          <a:noFill/>
          <a:ln w="12700">
            <a:solidFill>
              <a:srgbClr val="7A889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39112" y="47548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Differentiated feedback templates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583680" y="1783080"/>
            <a:ext cx="5029200" cy="10058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1856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編譯錯誤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720840" y="21305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error: {error_msg}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fix: {suggestion}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83680" y="2880360"/>
            <a:ext cx="5029200" cy="10058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2953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執行錯誤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20840" y="32278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{type} at line {loc}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Adjust inputs to handle this case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583680" y="3977640"/>
            <a:ext cx="5029200" cy="10058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0840" y="4050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路徑分歧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20840" y="43251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Reached line X but took wrong branch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 {cond}: expected {Y}, got {N}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583680" y="5074920"/>
            <a:ext cx="5029200" cy="10058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20840" y="5148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部分覆蓋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720840" y="542239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Reached line X, target is 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condition: {cond} needs {value}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Divergence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concolic testing 的自然語言版本：找出第一個走偏的條件分支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486400" cy="27432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calculate_shipping(order):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719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 = order.total_weight()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17190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weight = 2.5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039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weight &gt; 0: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2039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base_cost = weight * 10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3591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25.0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679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order.is_express():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679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  ← DIVERGENCE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2999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surcharge = base_cost * 0.5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(target, not executed)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3319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base_cost + surcharge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0560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29768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389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· analyze_divergence()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709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last_exec ← max(backward_slice ∩ executed)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50017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for cond in conditional_lines between last_exec and target: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52943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   if actual_branch ≠ expected_branch: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55869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       return (cond, expected, actual, runtime_values)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1371600"/>
            <a:ext cx="5212080" cy="4663440"/>
          </a:xfrm>
          <a:prstGeom prst="rect">
            <a:avLst/>
          </a:prstGeom>
          <a:solidFill>
            <a:srgbClr val="36454F"/>
          </a:solidFill>
          <a:ln w="25400">
            <a:solidFill>
              <a:srgbClr val="C9A6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1508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[Divergence Feedback]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192024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 reached line 13 but took the wrong branch.
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Condition: </a:t>
            </a: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order.is_express()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line 13
</a:t>
            </a: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Expected: </a:t>
            </a: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(to reach target line 14)
</a:t>
            </a: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Actual: </a:t>
            </a: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
</a:t>
            </a: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Values: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weight=2.5, base_cost=25.0
</a:t>
            </a:r>
            <a:r>
              <a:rPr lang="en-US" sz="1200" dirty="0">
                <a:solidFill>
                  <a:srgbClr val="000000"/>
                </a:solidFill>
              </a:rPr>
              <a:t>
</a:t>
            </a: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Suggestion: </a:t>
            </a: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your test so that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order.is_express() returns True. For example,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order's shipping_method to "express".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Multi-Signal Test Selection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從單一 control-flow proximity 擴展到三信號加權排序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72800" cy="118872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Score(c) = </a:t>
            </a:r>
            <a:r>
              <a:rPr lang="en-US" sz="2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Proximity(c) + </a:t>
            </a:r>
            <a:r>
              <a:rPr lang="en-US" sz="2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Overlap(c) + </a:t>
            </a:r>
            <a:r>
              <a:rPr lang="en-US" sz="2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r>
              <a:rPr 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Diversity(c)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43200"/>
            <a:ext cx="3566160" cy="59436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Proximity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27432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0.4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control-flow 距離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114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(1 + cfg_dist(c, target))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440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TestWeaver 既有 — 相關性高的 test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27432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2743200"/>
            <a:ext cx="3566160" cy="59436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Overlap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12280" y="27432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0.4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執行路徑與 target backward slice 重疊度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4114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4343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|path(c) ∩ backward_slice(t)| / |backward_slice(t)|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5212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5440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 — 走過同樣 setup 的 test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27432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2743200"/>
            <a:ext cx="3566160" cy="59436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2743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00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Diversity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515600" y="27432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0.2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與已選候選的差異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4114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4343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test_distance(c, selected_tests)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5212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0" y="5440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 — 避免重複同樣失敗模式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Baselines · Metrics · 5 Ablation Configurations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194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Benchmark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CodaMosa suite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altLang="zh-TW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Python projects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~486 modules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~100K+ LOC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371600"/>
            <a:ext cx="2194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182880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TestWeaver (ICSE'26)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CoverUp (2024)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CodaMOSA (ICSE'23)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1371600"/>
            <a:ext cx="2194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371600"/>
            <a:ext cx="2194560" cy="365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182880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/ Branch coverage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count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 (若可)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18320" y="1417320"/>
            <a:ext cx="2194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1371600"/>
            <a:ext cx="2194560" cy="3657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55480" y="182880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Main: DeepSeek V3.2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($0.28 / $0.42 / M tok)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Qwen2.5-Coder-7B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14B on M3 Air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Configurations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3474720" cy="347472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519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4251960"/>
            <a:ext cx="1920240" cy="347472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251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Slicing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4251960"/>
            <a:ext cx="1920240" cy="347472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4251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Iterative Loop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55280" y="4251960"/>
            <a:ext cx="1920240" cy="347472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4251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Classify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875520" y="4251960"/>
            <a:ext cx="1920240" cy="347472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21240" y="42519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Select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4599432"/>
            <a:ext cx="3474720" cy="347472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599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TestRefiner (full)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0" y="4599432"/>
            <a:ext cx="1920240" cy="347472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4599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035040" y="4599432"/>
            <a:ext cx="1920240" cy="347472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4599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955280" y="4599432"/>
            <a:ext cx="1920240" cy="347472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01000" y="4599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875520" y="4599432"/>
            <a:ext cx="1920240" cy="347472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21240" y="4599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40080" y="4946904"/>
            <a:ext cx="347472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9469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w/o Forward Slicing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14800" y="4946904"/>
            <a:ext cx="192024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60520" y="4946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035040" y="4946904"/>
            <a:ext cx="192024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4946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955280" y="4946904"/>
            <a:ext cx="192024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01000" y="4946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9875520" y="4946904"/>
            <a:ext cx="192024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21240" y="49469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40080" y="5294376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52943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w/o Iterative Loop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114800" y="529437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60520" y="5294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035040" y="529437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80760" y="5294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7955280" y="529437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01000" y="5294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9875520" y="529437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921240" y="52943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40080" y="5641848"/>
            <a:ext cx="347472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" y="56418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· w/o Failure Classify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114800" y="5641848"/>
            <a:ext cx="192024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60520" y="5641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035040" y="5641848"/>
            <a:ext cx="192024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80760" y="5641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7955280" y="5641848"/>
            <a:ext cx="192024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01000" y="5641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9875520" y="5641848"/>
            <a:ext cx="1920240" cy="347472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21240" y="5641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40080" y="5989320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" y="5989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· TestWeaver baseline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114800" y="5989320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60520" y="5989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6035040" y="5989320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080760" y="5989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7955280" y="5989320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001000" y="5989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9875520" y="5989320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921240" y="5989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 Tables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三張關鍵表格的預期趨勢（數字會由實驗填入）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A · Overall Ablation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18872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37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1737360"/>
            <a:ext cx="82296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737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1737360"/>
            <a:ext cx="82296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737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1737360"/>
            <a:ext cx="82296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737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057400"/>
            <a:ext cx="1188720" cy="320040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 full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2057400"/>
            <a:ext cx="822960" cy="320040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2057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51760" y="2057400"/>
            <a:ext cx="822960" cy="320040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057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2057400"/>
            <a:ext cx="822960" cy="320040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057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2377440"/>
            <a:ext cx="118872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377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 w/o Fwd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28800" y="2377440"/>
            <a:ext cx="82296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2377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51760" y="2377440"/>
            <a:ext cx="82296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2377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74720" y="2377440"/>
            <a:ext cx="82296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2377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2697480"/>
            <a:ext cx="11887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2697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 w/o Iter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0" y="2697480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74520" y="2697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651760" y="2697480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97480" y="2697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74720" y="2697480"/>
            <a:ext cx="8229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2697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3017520"/>
            <a:ext cx="118872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C4 w/o Cls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28800" y="3017520"/>
            <a:ext cx="82296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74520" y="3017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651760" y="3017520"/>
            <a:ext cx="82296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97480" y="3017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474720" y="3017520"/>
            <a:ext cx="82296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20440" y="3017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" y="3337560"/>
            <a:ext cx="1188720" cy="320040"/>
          </a:xfrm>
          <a:prstGeom prst="rect">
            <a:avLst/>
          </a:prstGeom>
          <a:solidFill>
            <a:srgbClr val="E4E4E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 TW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828800" y="3337560"/>
            <a:ext cx="822960" cy="320040"/>
          </a:xfrm>
          <a:prstGeom prst="rect">
            <a:avLst/>
          </a:prstGeom>
          <a:solidFill>
            <a:srgbClr val="E4E4E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74520" y="3337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651760" y="3337560"/>
            <a:ext cx="822960" cy="320040"/>
          </a:xfrm>
          <a:prstGeom prst="rect">
            <a:avLst/>
          </a:prstGeom>
          <a:solidFill>
            <a:srgbClr val="E4E4E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97480" y="3337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474720" y="3337560"/>
            <a:ext cx="822960" cy="320040"/>
          </a:xfrm>
          <a:prstGeom prst="rect">
            <a:avLst/>
          </a:prstGeom>
          <a:solidFill>
            <a:srgbClr val="E4E4E4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20440" y="3337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008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· 比較 C1 與 C5：量化整體差異與邊際效益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4348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B · Forward Slicing Depth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434840" y="1737360"/>
            <a:ext cx="91440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0" y="1737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349240" y="1737360"/>
            <a:ext cx="91440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94960" y="1737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263640" y="1737360"/>
            <a:ext cx="91440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9360" y="1737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178040" y="1737360"/>
            <a:ext cx="91440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23760" y="1737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Δ/cost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434840" y="2057400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0" y="2057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349240" y="2057400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94960" y="2057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263640" y="2057400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2057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178040" y="2057400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23760" y="2057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434840" y="2377440"/>
            <a:ext cx="91440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80560" y="2377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349240" y="2377440"/>
            <a:ext cx="91440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94960" y="2377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263640" y="2377440"/>
            <a:ext cx="91440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377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7178040" y="2377440"/>
            <a:ext cx="91440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23760" y="2377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4434840" y="2697480"/>
            <a:ext cx="914400" cy="320040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8056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✓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5349240" y="2697480"/>
            <a:ext cx="914400" cy="320040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9496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263640" y="2697480"/>
            <a:ext cx="914400" cy="320040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936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7178040" y="2697480"/>
            <a:ext cx="914400" cy="320040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22376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434840" y="3017520"/>
            <a:ext cx="91440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80560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5349240" y="3017520"/>
            <a:ext cx="91440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394960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6263640" y="3017520"/>
            <a:ext cx="91440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09360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7178040" y="3017520"/>
            <a:ext cx="91440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23760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4434840" y="3337560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80560" y="3337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5349240" y="3337560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394960" y="3337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6263640" y="3337560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09360" y="3337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7178040" y="3337560"/>
            <a:ext cx="914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223760" y="3337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443484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· 找出 depth 與 token 成本的最佳折衷點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82296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C · Iteration Rounds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8229600" y="1737360"/>
            <a:ext cx="86868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275320" y="17373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Rounds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9098280" y="1737360"/>
            <a:ext cx="86868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144000" y="17373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9966960" y="1737360"/>
            <a:ext cx="86868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012680" y="17373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10835640" y="1737360"/>
            <a:ext cx="868680" cy="320040"/>
          </a:xfrm>
          <a:prstGeom prst="rect">
            <a:avLst/>
          </a:prstGeom>
          <a:solidFill>
            <a:srgbClr val="36454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881360" y="17373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Δ/cost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8229600" y="2057400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275320" y="20574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9098280" y="2057400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144000" y="20574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9966960" y="2057400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0012680" y="20574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10835640" y="2057400"/>
            <a:ext cx="8686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881360" y="20574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8229600" y="2377440"/>
            <a:ext cx="8686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275320" y="2377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9098280" y="2377440"/>
            <a:ext cx="8686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144000" y="2377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9966960" y="2377440"/>
            <a:ext cx="8686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012680" y="2377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10835640" y="2377440"/>
            <a:ext cx="8686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881360" y="2377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8229600" y="2697480"/>
            <a:ext cx="868680" cy="320040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275320" y="2697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✓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9098280" y="2697480"/>
            <a:ext cx="868680" cy="320040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144000" y="2697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9966960" y="2697480"/>
            <a:ext cx="868680" cy="320040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012680" y="2697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10835640" y="2697480"/>
            <a:ext cx="868680" cy="320040"/>
          </a:xfrm>
          <a:prstGeom prst="rect">
            <a:avLst/>
          </a:prstGeom>
          <a:solidFill>
            <a:srgbClr val="C9A646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10881360" y="2697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8229600" y="3017520"/>
            <a:ext cx="8686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275320" y="30175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9098280" y="3017520"/>
            <a:ext cx="8686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9144000" y="30175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4" name="Shape 142"/>
          <p:cNvSpPr/>
          <p:nvPr/>
        </p:nvSpPr>
        <p:spPr>
          <a:xfrm>
            <a:off x="9966960" y="3017520"/>
            <a:ext cx="8686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0012680" y="30175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10835640" y="3017520"/>
            <a:ext cx="8686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4E4E4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881360" y="30175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8" name="Text 146"/>
          <p:cNvSpPr/>
          <p:nvPr/>
        </p:nvSpPr>
        <p:spPr>
          <a:xfrm>
            <a:off x="822960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· 找出迭代輪數的邊際效益遞減點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640080" y="4846320"/>
            <a:ext cx="10972800" cy="12801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2296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Analysis</a:t>
            </a:r>
            <a:endParaRPr lang="en-US" sz="1200" dirty="0"/>
          </a:p>
        </p:txBody>
      </p:sp>
      <p:sp>
        <p:nvSpPr>
          <p:cNvPr id="151" name="Text 149"/>
          <p:cNvSpPr/>
          <p:nvPr/>
        </p:nvSpPr>
        <p:spPr>
          <a:xfrm>
            <a:off x="822960" y="5212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Wilcoxon signed-rank test</a:t>
            </a:r>
            <a:r>
              <a:rPr lang="en-US" sz="1100" dirty="0">
                <a:solidFill>
                  <a:srgbClr val="F2F2F2"/>
                </a:solidFill>
              </a:rPr>
              <a:t> (paired per-project) · </a:t>
            </a: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0.05</a:t>
            </a:r>
            <a:r>
              <a:rPr lang="en-US" sz="1100" dirty="0">
                <a:solidFill>
                  <a:srgbClr val="000000"/>
                </a:solidFill>
              </a:rPr>
              <a:t>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Vargha-Delaney effect size</a:t>
            </a:r>
            <a:r>
              <a:rPr lang="en-US" sz="1100" dirty="0">
                <a:solidFill>
                  <a:srgbClr val="F2F2F2"/>
                </a:solidFill>
              </a:rPr>
              <a:t> 報告 practical significance · </a:t>
            </a:r>
            <a:r>
              <a:rPr lang="en-US" sz="1100" i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config 跑 3 次取平均（降低 LLM 隨機性）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Pilot Study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週 · Pilot → Full experiments → Thesis writing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642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6636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31080" y="1691640"/>
            <a:ext cx="0" cy="2377440"/>
          </a:xfrm>
          <a:prstGeom prst="line">
            <a:avLst/>
          </a:prstGeom>
          <a:noFill/>
          <a:ln w="6350">
            <a:solidFill>
              <a:srgbClr val="E4E4E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56844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160" y="1691640"/>
            <a:ext cx="0" cy="2377440"/>
          </a:xfrm>
          <a:prstGeom prst="line">
            <a:avLst/>
          </a:prstGeom>
          <a:noFill/>
          <a:ln w="6350">
            <a:solidFill>
              <a:srgbClr val="E4E4E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97052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35240" y="1691640"/>
            <a:ext cx="0" cy="2377440"/>
          </a:xfrm>
          <a:prstGeom prst="line">
            <a:avLst/>
          </a:prstGeom>
          <a:noFill/>
          <a:ln w="6350">
            <a:solidFill>
              <a:srgbClr val="E4E4E4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937260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37320" y="1691640"/>
            <a:ext cx="0" cy="2377440"/>
          </a:xfrm>
          <a:prstGeom prst="line">
            <a:avLst/>
          </a:prstGeom>
          <a:noFill/>
          <a:ln w="6350">
            <a:solidFill>
              <a:srgbClr val="E4E4E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077468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439400" y="1691640"/>
            <a:ext cx="0" cy="2377440"/>
          </a:xfrm>
          <a:prstGeom prst="line">
            <a:avLst/>
          </a:prstGeom>
          <a:noFill/>
          <a:ln w="6350">
            <a:solidFill>
              <a:srgbClr val="E4E4E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4008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 · TestWeaver 復現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1847088"/>
            <a:ext cx="701040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084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Slicing 實作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9624" y="2103120"/>
            <a:ext cx="981456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340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整合 bidirectional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50664" y="2359152"/>
            <a:ext cx="701040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5968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loop · 失敗分類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11496" y="2615184"/>
            <a:ext cx="11216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852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· 多信號選擇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52744" y="2871216"/>
            <a:ext cx="981456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108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3 projects × 5 configs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53784" y="3127248"/>
            <a:ext cx="841248" cy="201168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364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27 projects × 5 configs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54824" y="3383280"/>
            <a:ext cx="1682496" cy="201168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210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統計分析 · 圖表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897112" y="3639312"/>
            <a:ext cx="841248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8770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論文撰寫 · PPT · 口試準備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317736" y="3895344"/>
            <a:ext cx="2383536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434840"/>
            <a:ext cx="5303520" cy="16459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Study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48006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projects × 5 configs = 15 runs
</a:t>
            </a:r>
            <a:r>
              <a:rPr lang="en-US" sz="1100" dirty="0">
                <a:solidFill>
                  <a:srgbClr val="F2F2F2"/>
                </a:solidFill>
              </a:rPr>
              <a:t>• PySnooper (4 modules · debug/trace)
• flutils (9 modules · utilities)
• typesystem (10 modules · CC &gt; 350)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A88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·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9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API ≈ $13–20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4434840"/>
            <a:ext cx="5486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Milestones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09360" y="4846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W12</a:t>
            </a:r>
            <a:r>
              <a:rPr lang="en-US" sz="1100" dirty="0">
                <a:solidFill>
                  <a:srgbClr val="36454F"/>
                </a:solidFill>
              </a:rPr>
              <a:t>　Pilot 驗證 pipeline 可行 + 初步參數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9360" y="5138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W16</a:t>
            </a:r>
            <a:r>
              <a:rPr lang="en-US" sz="1100" dirty="0">
                <a:solidFill>
                  <a:srgbClr val="36454F"/>
                </a:solidFill>
              </a:rPr>
              <a:t>　全部實驗數據就位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54315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W18</a:t>
            </a:r>
            <a:r>
              <a:rPr lang="en-US" sz="1100" dirty="0">
                <a:solidFill>
                  <a:srgbClr val="36454F"/>
                </a:solidFill>
              </a:rPr>
              <a:t>　所有圖表、表格定稿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09360" y="57241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W21</a:t>
            </a:r>
            <a:r>
              <a:rPr lang="en-US" sz="1100" dirty="0">
                <a:solidFill>
                  <a:srgbClr val="36454F"/>
                </a:solidFill>
              </a:rPr>
              <a:t>　論文全文初稿完成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7498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三點科學貢獻 · 兩點實務貢獻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TestRefiner · Proposal · 2026.04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486400" cy="46634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slicing for LLM test gen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423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首次將行級雙向切片系統性整合進 LLM prompt，同時提供 input generation 與 oracle derivation 的 context。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Divergence analysis as NL feedback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749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concolic testing 的分歧點概念轉成自然語言回饋，首次在 LLM-based test generation 領域引入。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709160"/>
            <a:ext cx="457200" cy="457200"/>
          </a:xfrm>
          <a:prstGeom prst="ellipse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Failure-class differentiated prompts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5074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實證比較「統一 feedback」vs「4 類分類 feedback」對 LLM 回應品質的邊際效益。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1463040"/>
            <a:ext cx="53035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TestRefiner open-source tool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242316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完整管線（forward slicer + iterative loop + classifier + selector）可直接 fork TestWeaver 使用。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977640"/>
            <a:ext cx="457200" cy="457200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86600" y="3977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ablation protocol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86600" y="43434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configs × 27 projects 的實驗配置與數據開源，後續研究者可直接延伸（e.g., 換 LLM、換語言）。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548640" cy="36576"/>
          </a:xfrm>
          <a:prstGeom prst="rect">
            <a:avLst/>
          </a:prstGeom>
          <a:solidFill>
            <a:srgbClr val="C9A646"/>
          </a:solidFill>
          <a:ln w="12700">
            <a:solidFill>
              <a:srgbClr val="C9A6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· 期待您的指導與建議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6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Possible discussion points　</a:t>
            </a:r>
            <a:r>
              <a:rPr lang="en-US" sz="1100" dirty="0">
                <a:solidFill>
                  <a:srgbClr val="000000"/>
                </a:solidFill>
              </a:rPr>
              <a:t>
</a:t>
            </a:r>
            <a:r>
              <a:rPr lang="en-US" sz="1200" dirty="0">
                <a:solidFill>
                  <a:srgbClr val="F2F2F2"/>
                </a:solidFill>
              </a:rPr>
              <a:t>• 與 HITS / Panta 的差異化是否充分？
• Forward slicing 深度對不同 project 複雜度的敏感度
• Iterative rounds 的邊際遞減點是否與 LLM 能力相關？
• Token cost vs coverage 的 efficiency 應如何定義？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4220</Words>
  <Application>Microsoft Office PowerPoint</Application>
  <PresentationFormat>寬螢幕</PresentationFormat>
  <Paragraphs>664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TestRefiner Proposal</dc:title>
  <dc:subject>PptxGenJS Presentation</dc:subject>
  <dc:creator>gary1033</dc:creator>
  <cp:lastModifiedBy>f12921a30_</cp:lastModifiedBy>
  <cp:revision>4</cp:revision>
  <dcterms:created xsi:type="dcterms:W3CDTF">2026-04-16T16:35:35Z</dcterms:created>
  <dcterms:modified xsi:type="dcterms:W3CDTF">2026-04-17T05:28:19Z</dcterms:modified>
</cp:coreProperties>
</file>